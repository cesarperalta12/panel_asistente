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panel reemplaza la maqueta física del stand con una presentación digital táctil que funciona sin internet.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valor central es poder señalar un lote concreto, igual que con la maqueta, pero con información que la maqueta no tenía.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Insistir en que arranca solo al encender y vuelve solo a la atracción.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trabajo de esta pantalla es uno solo: frenar a la gente que camina por el pasillo.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que el tercer proyecto ya tiene su lugar reservado y toda la estructura hecha.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secciones fijas: el vendedor siempre sabe dónde está cada cosa.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Maps no funciona sin internet y sus términos prohíben guardar los tiles. La solución es capturar las cuatro alturas desde Google Earth Pro antes de la feria.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nombres actuales son de ejemplo; INMOL debe entregar las referencias reales.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pantalla que más se va a usar: permite señalar un lote concreto durante la conversación comercial.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Responde una de las preguntas más frecuentes en feria: ¿en qué estado está la obra hoy?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Sirve para cerrar la duda sobre qué tótem comprar: cualquiera de los dos formatos funciona.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sistema sirve igual para una urbanización y para un centro comercial.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argumento que baja el riesgo: la feria no depende de la conexión ni de Starlink.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pidiendo una fecha concreta para la entrega del material: es lo que determina si se llega con margen a la feria.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47588" y="1522476"/>
            <a:ext cx="6821424" cy="3893785"/>
          </a:xfrm>
          <a:prstGeom prst="rect">
            <a:avLst/>
          </a:prstGeom>
          <a:solidFill>
            <a:srgbClr val="1E1F29"/>
          </a:solidFill>
          <a:ln w="9525">
            <a:solidFill>
              <a:srgbClr val="32333F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pic>
        <p:nvPicPr>
          <p:cNvPr id="3" name="Image 0" descr="C:\Users\cesar\OneDrive\Desktop\panel interactivo\presentacion\capturas\00-porta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572768"/>
            <a:ext cx="6720840" cy="3793201"/>
          </a:xfrm>
          <a:prstGeom prst="rect">
            <a:avLst/>
          </a:prstGeom>
        </p:spPr>
      </p:pic>
      <p:pic>
        <p:nvPicPr>
          <p:cNvPr id="4" name="Image 1" descr="C:\Users\cesar\OneDrive\Desktop\panel interactivo\assets\inmol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530352"/>
            <a:ext cx="932688" cy="871423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40080" y="20848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80" kern="0" dirty="0">
                <a:solidFill>
                  <a:srgbClr val="E33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· STAND DE FERIA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603504" y="2432304"/>
            <a:ext cx="5029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</a:t>
            </a:r>
            <a:endParaRPr lang="en-US" sz="46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Interactivo</a:t>
            </a:r>
            <a:endParaRPr lang="en-US" sz="4600" dirty="0"/>
          </a:p>
        </p:txBody>
      </p:sp>
      <p:sp>
        <p:nvSpPr>
          <p:cNvPr id="7" name="Text 3"/>
          <p:cNvSpPr/>
          <p:nvPr/>
        </p:nvSpPr>
        <p:spPr>
          <a:xfrm>
            <a:off x="640080" y="4224528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C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digital de los tres proyectos, en pantalla táctil y sin conexión a internet.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640080" y="5943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5C5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Desarrollos Inmobiliarios con respaldo y confianza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420624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E33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PLANTEAMIENTO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3504" y="69494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 maqueta a la pantalla</a:t>
            </a:r>
            <a:endParaRPr lang="en-US" sz="2900" dirty="0"/>
          </a:p>
        </p:txBody>
      </p:sp>
      <p:pic>
        <p:nvPicPr>
          <p:cNvPr id="4" name="Image 0" descr="C:\Users\cesar\OneDrive\Desktop\panel interactivo\assets\inmol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00232" y="402336"/>
            <a:ext cx="548640" cy="51297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21792" y="1627632"/>
            <a:ext cx="4709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C9C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maqueta hacía una sola cosa que ningún video hace: permitía señalar «este lote, acá, este es el tuyo». El panel conserva eso y agrega lo que la maqueta nunca pudo mostrar.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21792" y="2926080"/>
            <a:ext cx="384048" cy="384048"/>
          </a:xfrm>
          <a:prstGeom prst="ellipse">
            <a:avLst/>
          </a:prstGeom>
          <a:solidFill>
            <a:srgbClr val="E3333E"/>
          </a:solidFill>
          <a:ln/>
        </p:spPr>
      </p:sp>
      <p:sp>
        <p:nvSpPr>
          <p:cNvPr id="7" name="Text 4"/>
          <p:cNvSpPr/>
          <p:nvPr/>
        </p:nvSpPr>
        <p:spPr>
          <a:xfrm>
            <a:off x="621792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2898648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proyectos en un solo lugar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188720" y="3218688"/>
            <a:ext cx="4142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Ubicación, plano, disponibilidad y avance de obra, organizados por proyecto.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1792" y="4059936"/>
            <a:ext cx="384048" cy="384048"/>
          </a:xfrm>
          <a:prstGeom prst="ellipse">
            <a:avLst/>
          </a:prstGeom>
          <a:solidFill>
            <a:srgbClr val="E3333E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4059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4032504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actualiza en minutos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188720" y="4352544"/>
            <a:ext cx="4142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disponibilidad cambia durante la feria; el panel se actualiza sin rehacer nada.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21792" y="5193792"/>
            <a:ext cx="384048" cy="384048"/>
          </a:xfrm>
          <a:prstGeom prst="ellipse">
            <a:avLst/>
          </a:prstGeom>
          <a:solidFill>
            <a:srgbClr val="E3333E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188720" y="5166360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 el espacio, no el presupuesto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188720" y="5486400"/>
            <a:ext cx="4142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carpeta en un pendrive reemplaza el transporte y armado de la maqueta.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893308" y="2281428"/>
            <a:ext cx="5815584" cy="3315272"/>
          </a:xfrm>
          <a:prstGeom prst="rect">
            <a:avLst/>
          </a:prstGeom>
          <a:solidFill>
            <a:srgbClr val="1E1F29"/>
          </a:solidFill>
          <a:ln w="9525">
            <a:solidFill>
              <a:srgbClr val="32333F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pic>
        <p:nvPicPr>
          <p:cNvPr id="19" name="Image 1" descr="C:\Users\cesar\OneDrive\Desktop\panel interactivo\presentacion\capturas\03-resum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331720"/>
            <a:ext cx="5715000" cy="321468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5943600" y="5705856"/>
            <a:ext cx="5715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de proyecto: descripción, servicios y cifras principales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621792" y="63459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5C5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Interactivo INMOL · Propuesta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420624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E33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OPERACIÓN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3504" y="69494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se usa durante la feria</a:t>
            </a:r>
            <a:endParaRPr lang="en-US" sz="2900" dirty="0"/>
          </a:p>
        </p:txBody>
      </p:sp>
      <p:pic>
        <p:nvPicPr>
          <p:cNvPr id="4" name="Image 0" descr="C:\Users\cesar\OneDrive\Desktop\panel interactivo\assets\inmol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00232" y="402336"/>
            <a:ext cx="548640" cy="51297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70332" y="1874520"/>
            <a:ext cx="2670048" cy="3063240"/>
          </a:xfrm>
          <a:prstGeom prst="roundRect">
            <a:avLst>
              <a:gd name="adj" fmla="val 2055"/>
            </a:avLst>
          </a:prstGeom>
          <a:solidFill>
            <a:srgbClr val="15161D"/>
          </a:solidFill>
          <a:ln w="9525">
            <a:solidFill>
              <a:srgbClr val="2A2B3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4652" y="2176272"/>
            <a:ext cx="457200" cy="457200"/>
          </a:xfrm>
          <a:prstGeom prst="ellipse">
            <a:avLst/>
          </a:prstGeom>
          <a:solidFill>
            <a:srgbClr val="E3333E"/>
          </a:solidFill>
          <a:ln/>
        </p:spPr>
      </p:sp>
      <p:sp>
        <p:nvSpPr>
          <p:cNvPr id="7" name="Text 4"/>
          <p:cNvSpPr/>
          <p:nvPr/>
        </p:nvSpPr>
        <p:spPr>
          <a:xfrm>
            <a:off x="644652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44652" y="2798064"/>
            <a:ext cx="21214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enciende y arranca solo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44652" y="3419856"/>
            <a:ext cx="21214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dar energía a la pantalla, el panel retoma la presentación sin que nadie toque nada. No depende de que alguien se acuerde de abrirlo cada mañana.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96412" y="1874520"/>
            <a:ext cx="2670048" cy="3063240"/>
          </a:xfrm>
          <a:prstGeom prst="roundRect">
            <a:avLst>
              <a:gd name="adj" fmla="val 2055"/>
            </a:avLst>
          </a:prstGeom>
          <a:solidFill>
            <a:srgbClr val="15161D"/>
          </a:solidFill>
          <a:ln w="9525">
            <a:solidFill>
              <a:srgbClr val="2A2B3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70732" y="2176272"/>
            <a:ext cx="457200" cy="457200"/>
          </a:xfrm>
          <a:prstGeom prst="ellipse">
            <a:avLst/>
          </a:prstGeom>
          <a:solidFill>
            <a:srgbClr val="E3333E"/>
          </a:solidFill>
          <a:ln/>
        </p:spPr>
      </p:sp>
      <p:sp>
        <p:nvSpPr>
          <p:cNvPr id="12" name="Text 9"/>
          <p:cNvSpPr/>
          <p:nvPr/>
        </p:nvSpPr>
        <p:spPr>
          <a:xfrm>
            <a:off x="3570732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570732" y="2798064"/>
            <a:ext cx="21214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Atrae desde el pasillo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3570732" y="3419856"/>
            <a:ext cx="21214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entre los tres proyectos con el nombre grande, una frase corta y tres datos. Sin audio, para que funcione en un pabellón ruidoso.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222492" y="1874520"/>
            <a:ext cx="2670048" cy="3063240"/>
          </a:xfrm>
          <a:prstGeom prst="roundRect">
            <a:avLst>
              <a:gd name="adj" fmla="val 2055"/>
            </a:avLst>
          </a:prstGeom>
          <a:solidFill>
            <a:srgbClr val="15161D"/>
          </a:solidFill>
          <a:ln w="9525">
            <a:solidFill>
              <a:srgbClr val="2A2B3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96812" y="2176272"/>
            <a:ext cx="457200" cy="457200"/>
          </a:xfrm>
          <a:prstGeom prst="ellipse">
            <a:avLst/>
          </a:prstGeom>
          <a:solidFill>
            <a:srgbClr val="E3333E"/>
          </a:solidFill>
          <a:ln/>
        </p:spPr>
      </p:sp>
      <p:sp>
        <p:nvSpPr>
          <p:cNvPr id="17" name="Text 14"/>
          <p:cNvSpPr/>
          <p:nvPr/>
        </p:nvSpPr>
        <p:spPr>
          <a:xfrm>
            <a:off x="6496812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496812" y="2798064"/>
            <a:ext cx="21214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visitante toca y explora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96812" y="3419856"/>
            <a:ext cx="21214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un proyecto y navega su ubicación, el plano de lotes y el avance de obra. El vendedor acompaña sobre la misma pantalla.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9148572" y="1874520"/>
            <a:ext cx="2670048" cy="3063240"/>
          </a:xfrm>
          <a:prstGeom prst="roundRect">
            <a:avLst>
              <a:gd name="adj" fmla="val 2055"/>
            </a:avLst>
          </a:prstGeom>
          <a:solidFill>
            <a:srgbClr val="15161D"/>
          </a:solidFill>
          <a:ln w="9525">
            <a:solidFill>
              <a:srgbClr val="2A2B3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422892" y="2176272"/>
            <a:ext cx="457200" cy="457200"/>
          </a:xfrm>
          <a:prstGeom prst="ellipse">
            <a:avLst/>
          </a:prstGeom>
          <a:solidFill>
            <a:srgbClr val="E3333E"/>
          </a:solidFill>
          <a:ln/>
        </p:spPr>
      </p:sp>
      <p:sp>
        <p:nvSpPr>
          <p:cNvPr id="22" name="Text 19"/>
          <p:cNvSpPr/>
          <p:nvPr/>
        </p:nvSpPr>
        <p:spPr>
          <a:xfrm>
            <a:off x="9422892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9422892" y="2798064"/>
            <a:ext cx="21214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Vuelve solo a la atracción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9422892" y="3419856"/>
            <a:ext cx="21214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 90 segundos sin uso regresa a la presentación. Nunca queda «trabado» en la pantalla que dejó el visitante anterior.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621792" y="5440680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C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equipo comercial no tiene que administrar la pantalla: sólo usarla cuando hay alguien delante.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21792" y="63459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5C5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completo, sin intervención · atracción → menú → proyecto → atracción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420624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E33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3504" y="69494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Modo atracción: frenar a quien pasa</a:t>
            </a:r>
            <a:endParaRPr lang="en-US" sz="2900" dirty="0"/>
          </a:p>
        </p:txBody>
      </p:sp>
      <p:pic>
        <p:nvPicPr>
          <p:cNvPr id="4" name="Image 0" descr="C:\Users\cesar\OneDrive\Desktop\panel interactivo\assets\inmol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00232" y="402336"/>
            <a:ext cx="548640" cy="51297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71500" y="1668780"/>
            <a:ext cx="7004304" cy="3983927"/>
          </a:xfrm>
          <a:prstGeom prst="rect">
            <a:avLst/>
          </a:prstGeom>
          <a:solidFill>
            <a:srgbClr val="1E1F29"/>
          </a:solidFill>
          <a:ln w="9525">
            <a:solidFill>
              <a:srgbClr val="32333F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pic>
        <p:nvPicPr>
          <p:cNvPr id="6" name="Image 1" descr="C:\Users\cesar\OneDrive\Desktop\panel interactivo\presentacion\capturas\01-atracc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719072"/>
            <a:ext cx="6903720" cy="388334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882128" y="1783080"/>
            <a:ext cx="3703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C9C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entre los tres proyectos con el nombre grande, una frase corta y tres datos. Sin audio, para que funcione en un pabellón ruidoso.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7882128" y="3346704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s</a:t>
            </a:r>
            <a:endParaRPr lang="en-US" sz="4000" dirty="0"/>
          </a:p>
        </p:txBody>
      </p:sp>
      <p:sp>
        <p:nvSpPr>
          <p:cNvPr id="9" name="Text 5"/>
          <p:cNvSpPr/>
          <p:nvPr/>
        </p:nvSpPr>
        <p:spPr>
          <a:xfrm>
            <a:off x="7882128" y="40416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PROYECTO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9857232" y="334670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11" name="Text 7"/>
          <p:cNvSpPr/>
          <p:nvPr/>
        </p:nvSpPr>
        <p:spPr>
          <a:xfrm>
            <a:off x="9857232" y="404164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 EN ROTACIÓN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7882128" y="4718304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7882128" y="54132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CLICS PARA INICIAR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9857232" y="471830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s</a:t>
            </a:r>
            <a:endParaRPr lang="en-US" sz="4000" dirty="0"/>
          </a:p>
        </p:txBody>
      </p:sp>
      <p:sp>
        <p:nvSpPr>
          <p:cNvPr id="15" name="Text 11"/>
          <p:cNvSpPr/>
          <p:nvPr/>
        </p:nvSpPr>
        <p:spPr>
          <a:xfrm>
            <a:off x="9857232" y="541324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VUELVE SOLO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21792" y="63459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5C5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Tipografía dimensionada para lectura a 6–8 metros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420624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E33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3504" y="69494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tres proyectos, de un vistazo</a:t>
            </a:r>
            <a:endParaRPr lang="en-US" sz="2900" dirty="0"/>
          </a:p>
        </p:txBody>
      </p:sp>
      <p:pic>
        <p:nvPicPr>
          <p:cNvPr id="4" name="Image 0" descr="C:\Users\cesar\OneDrive\Desktop\panel interactivo\assets\inmol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00232" y="402336"/>
            <a:ext cx="548640" cy="51297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747772" y="1723644"/>
            <a:ext cx="6684264" cy="3803904"/>
          </a:xfrm>
          <a:prstGeom prst="rect">
            <a:avLst/>
          </a:prstGeom>
          <a:solidFill>
            <a:srgbClr val="1E1F29"/>
          </a:solidFill>
          <a:ln w="9525">
            <a:solidFill>
              <a:srgbClr val="32333F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pic>
        <p:nvPicPr>
          <p:cNvPr id="6" name="Image 1" descr="C:\Users\cesar\OneDrive\Desktop\panel interactivo\presentacion\capturas\02-men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8064" y="1773936"/>
            <a:ext cx="6583680" cy="37033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21792" y="5193792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C9C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tarjeta muestra el tipo de proyecto, su ubicación y dos datos clave. Un toque abre el proyecto completo.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6309360" y="5193792"/>
            <a:ext cx="5257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tercer proyecto ya está construido y espera su contenido: nombre, plano, fotos y avance de obra.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621792" y="63459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5C5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Urbanización El Encanto · Centro Comercial Libertad · tercer proyecto por definir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420624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E33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DE UN PROYECTO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3504" y="69494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organizado en cinco secciones</a:t>
            </a:r>
            <a:endParaRPr lang="en-US" sz="2900" dirty="0"/>
          </a:p>
        </p:txBody>
      </p:sp>
      <p:pic>
        <p:nvPicPr>
          <p:cNvPr id="4" name="Image 0" descr="C:\Users\cesar\OneDrive\Desktop\panel interactivo\assets\inmol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00232" y="402336"/>
            <a:ext cx="548640" cy="51297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92140" y="2189988"/>
            <a:ext cx="5952744" cy="3392424"/>
          </a:xfrm>
          <a:prstGeom prst="rect">
            <a:avLst/>
          </a:prstGeom>
          <a:solidFill>
            <a:srgbClr val="1E1F29"/>
          </a:solidFill>
          <a:ln w="9525">
            <a:solidFill>
              <a:srgbClr val="32333F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pic>
        <p:nvPicPr>
          <p:cNvPr id="6" name="Image 1" descr="C:\Users\cesar\OneDrive\Desktop\panel interactivo\presentacion\capturas\03-resum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432" y="2240280"/>
            <a:ext cx="5852160" cy="329184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21792" y="1837944"/>
            <a:ext cx="310896" cy="310896"/>
          </a:xfrm>
          <a:prstGeom prst="ellipse">
            <a:avLst/>
          </a:prstGeom>
          <a:solidFill>
            <a:srgbClr val="E3333E"/>
          </a:solidFill>
          <a:ln/>
        </p:spPr>
      </p:sp>
      <p:sp>
        <p:nvSpPr>
          <p:cNvPr id="8" name="Text 4"/>
          <p:cNvSpPr/>
          <p:nvPr/>
        </p:nvSpPr>
        <p:spPr>
          <a:xfrm>
            <a:off x="621792" y="1837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1097280" y="17830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</a:t>
            </a:r>
            <a:endParaRPr lang="en-US" sz="1550" dirty="0"/>
          </a:p>
        </p:txBody>
      </p:sp>
      <p:sp>
        <p:nvSpPr>
          <p:cNvPr id="10" name="Text 6"/>
          <p:cNvSpPr/>
          <p:nvPr/>
        </p:nvSpPr>
        <p:spPr>
          <a:xfrm>
            <a:off x="1097280" y="208483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Descripción, servicios y cifras principales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1792" y="2697480"/>
            <a:ext cx="310896" cy="310896"/>
          </a:xfrm>
          <a:prstGeom prst="ellipse">
            <a:avLst/>
          </a:prstGeom>
          <a:solidFill>
            <a:srgbClr val="E3333E"/>
          </a:solidFill>
          <a:ln/>
        </p:spPr>
      </p:sp>
      <p:sp>
        <p:nvSpPr>
          <p:cNvPr id="12" name="Text 8"/>
          <p:cNvSpPr/>
          <p:nvPr/>
        </p:nvSpPr>
        <p:spPr>
          <a:xfrm>
            <a:off x="621792" y="2697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97280" y="2642616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1097280" y="294436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satelital con zoom, desde la región al terreno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21792" y="3557016"/>
            <a:ext cx="310896" cy="310896"/>
          </a:xfrm>
          <a:prstGeom prst="ellipse">
            <a:avLst/>
          </a:prstGeom>
          <a:solidFill>
            <a:srgbClr val="E3333E"/>
          </a:solidFill>
          <a:ln/>
        </p:spPr>
      </p:sp>
      <p:sp>
        <p:nvSpPr>
          <p:cNvPr id="16" name="Text 12"/>
          <p:cNvSpPr/>
          <p:nvPr/>
        </p:nvSpPr>
        <p:spPr>
          <a:xfrm>
            <a:off x="621792" y="35570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1097280" y="350215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hay cerca</a:t>
            </a:r>
            <a:endParaRPr lang="en-US" sz="1550" dirty="0"/>
          </a:p>
        </p:txBody>
      </p:sp>
      <p:sp>
        <p:nvSpPr>
          <p:cNvPr id="18" name="Text 14"/>
          <p:cNvSpPr/>
          <p:nvPr/>
        </p:nvSpPr>
        <p:spPr>
          <a:xfrm>
            <a:off x="1097280" y="380390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de referencia con su distancia real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21792" y="4416552"/>
            <a:ext cx="310896" cy="310896"/>
          </a:xfrm>
          <a:prstGeom prst="ellipse">
            <a:avLst/>
          </a:prstGeom>
          <a:solidFill>
            <a:srgbClr val="E3333E"/>
          </a:solidFill>
          <a:ln/>
        </p:spPr>
      </p:sp>
      <p:sp>
        <p:nvSpPr>
          <p:cNvPr id="20" name="Text 16"/>
          <p:cNvSpPr/>
          <p:nvPr/>
        </p:nvSpPr>
        <p:spPr>
          <a:xfrm>
            <a:off x="621792" y="4416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1097280" y="436168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</a:t>
            </a:r>
            <a:endParaRPr lang="en-US" sz="1550" dirty="0"/>
          </a:p>
        </p:txBody>
      </p:sp>
      <p:sp>
        <p:nvSpPr>
          <p:cNvPr id="22" name="Text 18"/>
          <p:cNvSpPr/>
          <p:nvPr/>
        </p:nvSpPr>
        <p:spPr>
          <a:xfrm>
            <a:off x="1097280" y="46634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lotes tocable, con estado y superficie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21792" y="5276088"/>
            <a:ext cx="310896" cy="310896"/>
          </a:xfrm>
          <a:prstGeom prst="ellipse">
            <a:avLst/>
          </a:prstGeom>
          <a:solidFill>
            <a:srgbClr val="E3333E"/>
          </a:solidFill>
          <a:ln/>
        </p:spPr>
      </p:sp>
      <p:sp>
        <p:nvSpPr>
          <p:cNvPr id="24" name="Text 20"/>
          <p:cNvSpPr/>
          <p:nvPr/>
        </p:nvSpPr>
        <p:spPr>
          <a:xfrm>
            <a:off x="621792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1097280" y="5221224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de obra</a:t>
            </a:r>
            <a:endParaRPr lang="en-US" sz="1550" dirty="0"/>
          </a:p>
        </p:txBody>
      </p:sp>
      <p:sp>
        <p:nvSpPr>
          <p:cNvPr id="26" name="Text 22"/>
          <p:cNvSpPr/>
          <p:nvPr/>
        </p:nvSpPr>
        <p:spPr>
          <a:xfrm>
            <a:off x="1097280" y="5522976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Porcentaje general y detalle por etapa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21792" y="63459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5C5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misma estructura para los tres proyectos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420624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E33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3504" y="69494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Vista satelital que funciona sin conexión</a:t>
            </a:r>
            <a:endParaRPr lang="en-US" sz="2900" dirty="0"/>
          </a:p>
        </p:txBody>
      </p:sp>
      <p:pic>
        <p:nvPicPr>
          <p:cNvPr id="4" name="Image 0" descr="C:\Users\cesar\OneDrive\Desktop\panel interactivo\assets\inmol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00232" y="402336"/>
            <a:ext cx="548640" cy="51297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21792" y="1591056"/>
            <a:ext cx="10927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C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panel guarda cuatro alturas de la misma ubicación —Región, Ciudad, Zona y Predio— y las encadena con un zoom animado. Se percibe como Google Earth, pero no pide nada a la red.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71500" y="2436876"/>
            <a:ext cx="5495544" cy="3135249"/>
          </a:xfrm>
          <a:prstGeom prst="rect">
            <a:avLst/>
          </a:prstGeom>
          <a:solidFill>
            <a:srgbClr val="1E1F29"/>
          </a:solidFill>
          <a:ln w="9525">
            <a:solidFill>
              <a:srgbClr val="32333F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pic>
        <p:nvPicPr>
          <p:cNvPr id="7" name="Image 1" descr="C:\Users\cesar\OneDrive\Desktop\panel interactivo\presentacion\capturas\04-satelital-ciud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487168"/>
            <a:ext cx="5394960" cy="303466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149340" y="2436876"/>
            <a:ext cx="5495544" cy="3135249"/>
          </a:xfrm>
          <a:prstGeom prst="rect">
            <a:avLst/>
          </a:prstGeom>
          <a:solidFill>
            <a:srgbClr val="1E1F29"/>
          </a:solidFill>
          <a:ln w="9525">
            <a:solidFill>
              <a:srgbClr val="32333F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pic>
        <p:nvPicPr>
          <p:cNvPr id="9" name="Image 2" descr="C:\Users\cesar\OneDrive\Desktop\panel interactivo\presentacion\capturas\05-satelital-predi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487168"/>
            <a:ext cx="5394960" cy="303466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21792" y="561441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2 · Ciudad</a:t>
            </a:r>
            <a:endParaRPr lang="en-US" sz="1250" dirty="0"/>
          </a:p>
        </p:txBody>
      </p:sp>
      <p:sp>
        <p:nvSpPr>
          <p:cNvPr id="11" name="Text 6"/>
          <p:cNvSpPr/>
          <p:nvPr/>
        </p:nvSpPr>
        <p:spPr>
          <a:xfrm>
            <a:off x="621792" y="588873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trama urbana, los accesos y el predio señalado.</a:t>
            </a:r>
            <a:endParaRPr lang="en-US" sz="1150" dirty="0"/>
          </a:p>
        </p:txBody>
      </p:sp>
      <p:sp>
        <p:nvSpPr>
          <p:cNvPr id="12" name="Text 7"/>
          <p:cNvSpPr/>
          <p:nvPr/>
        </p:nvSpPr>
        <p:spPr>
          <a:xfrm>
            <a:off x="6199632" y="561441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4 · Predio</a:t>
            </a:r>
            <a:endParaRPr lang="en-US" sz="1250" dirty="0"/>
          </a:p>
        </p:txBody>
      </p:sp>
      <p:sp>
        <p:nvSpPr>
          <p:cNvPr id="13" name="Text 8"/>
          <p:cNvSpPr/>
          <p:nvPr/>
        </p:nvSpPr>
        <p:spPr>
          <a:xfrm>
            <a:off x="6199632" y="588873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terreno con su subdivisión de lotes y la vía de acceso.</a:t>
            </a:r>
            <a:endParaRPr lang="en-US" sz="1150" dirty="0"/>
          </a:p>
        </p:txBody>
      </p:sp>
      <p:sp>
        <p:nvSpPr>
          <p:cNvPr id="14" name="Text 9"/>
          <p:cNvSpPr/>
          <p:nvPr/>
        </p:nvSpPr>
        <p:spPr>
          <a:xfrm>
            <a:off x="621792" y="63459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5C5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«Sobrevuelo automático»: recorre los cuatro niveles solo, para presentar sin tocar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420624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E33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ENTORNO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3504" y="69494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puntos de referencia, a escala</a:t>
            </a:r>
            <a:endParaRPr lang="en-US" sz="2900" dirty="0"/>
          </a:p>
        </p:txBody>
      </p:sp>
      <p:pic>
        <p:nvPicPr>
          <p:cNvPr id="4" name="Image 0" descr="C:\Users\cesar\OneDrive\Desktop\panel interactivo\assets\inmol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00232" y="402336"/>
            <a:ext cx="548640" cy="51297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344668" y="1741932"/>
            <a:ext cx="6300216" cy="3587877"/>
          </a:xfrm>
          <a:prstGeom prst="rect">
            <a:avLst/>
          </a:prstGeom>
          <a:solidFill>
            <a:srgbClr val="1E1F29"/>
          </a:solidFill>
          <a:ln w="9525">
            <a:solidFill>
              <a:srgbClr val="32333F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pic>
        <p:nvPicPr>
          <p:cNvPr id="6" name="Image 1" descr="C:\Users\cesar\OneDrive\Desktop\panel interactivo\presentacion\capturas\06-referencia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792224"/>
            <a:ext cx="6199632" cy="348729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21792" y="1828800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C9C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referencia se ubica en su ángulo y a su distancia real sobre anillos de 1, 2 y 3 kilómetros.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621792" y="292608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más legible a distancia que un mapa navegable, y responde la pregunta que el cliente hace de verdad: «¿qué tengo cerca?».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621792" y="422452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621792" y="49194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REFERENCIAS POR PROYECTO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2889504" y="422452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km</a:t>
            </a:r>
            <a:endParaRPr lang="en-US" sz="4000" dirty="0"/>
          </a:p>
        </p:txBody>
      </p:sp>
      <p:sp>
        <p:nvSpPr>
          <p:cNvPr id="12" name="Text 8"/>
          <p:cNvSpPr/>
          <p:nvPr/>
        </p:nvSpPr>
        <p:spPr>
          <a:xfrm>
            <a:off x="2889504" y="491947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RADIO MOSTRADO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621792" y="63459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5C5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referencias y distancias se cargan desde un solo archivo de datos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420624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E33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CORAZÓN DEL PANEL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3504" y="69494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Disponibilidad: lo que reemplaza la maqueta</a:t>
            </a:r>
            <a:endParaRPr lang="en-US" sz="2900" dirty="0"/>
          </a:p>
        </p:txBody>
      </p:sp>
      <p:pic>
        <p:nvPicPr>
          <p:cNvPr id="4" name="Image 0" descr="C:\Users\cesar\OneDrive\Desktop\panel interactivo\assets\inmol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00232" y="402336"/>
            <a:ext cx="548640" cy="51297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71500" y="1668780"/>
            <a:ext cx="7415784" cy="4215384"/>
          </a:xfrm>
          <a:prstGeom prst="rect">
            <a:avLst/>
          </a:prstGeom>
          <a:solidFill>
            <a:srgbClr val="1E1F29"/>
          </a:solidFill>
          <a:ln w="9525">
            <a:solidFill>
              <a:srgbClr val="32333F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pic>
        <p:nvPicPr>
          <p:cNvPr id="6" name="Image 1" descr="C:\Users\cesar\OneDrive\Desktop\panel interactivo\presentacion\capturas\07-lot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719072"/>
            <a:ext cx="7315200" cy="41148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275320" y="1773936"/>
            <a:ext cx="33101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C9C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unidad es tocable. Al tocarla aparece su código, manzana, superficie y categoría.</a:t>
            </a:r>
            <a:endParaRPr lang="en-US" sz="1350" dirty="0"/>
          </a:p>
        </p:txBody>
      </p:sp>
      <p:sp>
        <p:nvSpPr>
          <p:cNvPr id="8" name="Shape 4"/>
          <p:cNvSpPr/>
          <p:nvPr/>
        </p:nvSpPr>
        <p:spPr>
          <a:xfrm>
            <a:off x="8275320" y="3044952"/>
            <a:ext cx="201168" cy="201168"/>
          </a:xfrm>
          <a:prstGeom prst="roundRect">
            <a:avLst>
              <a:gd name="adj" fmla="val 13636"/>
            </a:avLst>
          </a:prstGeom>
          <a:solidFill>
            <a:srgbClr val="35B36B"/>
          </a:solidFill>
          <a:ln/>
        </p:spPr>
      </p:sp>
      <p:sp>
        <p:nvSpPr>
          <p:cNvPr id="9" name="Text 5"/>
          <p:cNvSpPr/>
          <p:nvPr/>
        </p:nvSpPr>
        <p:spPr>
          <a:xfrm>
            <a:off x="8613648" y="299923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8275320" y="3520440"/>
            <a:ext cx="201168" cy="201168"/>
          </a:xfrm>
          <a:prstGeom prst="roundRect">
            <a:avLst>
              <a:gd name="adj" fmla="val 13636"/>
            </a:avLst>
          </a:prstGeom>
          <a:solidFill>
            <a:srgbClr val="E0A33A"/>
          </a:solidFill>
          <a:ln/>
        </p:spPr>
      </p:sp>
      <p:sp>
        <p:nvSpPr>
          <p:cNvPr id="11" name="Text 7"/>
          <p:cNvSpPr/>
          <p:nvPr/>
        </p:nvSpPr>
        <p:spPr>
          <a:xfrm>
            <a:off x="8613648" y="34747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Reservado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8275320" y="3995928"/>
            <a:ext cx="201168" cy="201168"/>
          </a:xfrm>
          <a:prstGeom prst="roundRect">
            <a:avLst>
              <a:gd name="adj" fmla="val 13636"/>
            </a:avLst>
          </a:prstGeom>
          <a:solidFill>
            <a:srgbClr val="55565F"/>
          </a:solidFill>
          <a:ln/>
        </p:spPr>
      </p:sp>
      <p:sp>
        <p:nvSpPr>
          <p:cNvPr id="13" name="Text 9"/>
          <p:cNvSpPr/>
          <p:nvPr/>
        </p:nvSpPr>
        <p:spPr>
          <a:xfrm>
            <a:off x="8613648" y="395020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Vendido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8275320" y="4681728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precios en pantalla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8275320" y="5010912"/>
            <a:ext cx="33101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cotización se prepara de forma personalizada. En feria, además, evita que la competencia se lleve la lista de precios en una foto.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21792" y="63459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5C5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rápidos: todos · sólo disponibles · reservados · vendidos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420624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E33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3504" y="69494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Avance real, etapa por etapa</a:t>
            </a:r>
            <a:endParaRPr lang="en-US" sz="2900" dirty="0"/>
          </a:p>
        </p:txBody>
      </p:sp>
      <p:pic>
        <p:nvPicPr>
          <p:cNvPr id="4" name="Image 0" descr="C:\Users\cesar\OneDrive\Desktop\panel interactivo\assets\inmol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00232" y="402336"/>
            <a:ext cx="548640" cy="51297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747772" y="1796796"/>
            <a:ext cx="6684264" cy="3803904"/>
          </a:xfrm>
          <a:prstGeom prst="rect">
            <a:avLst/>
          </a:prstGeom>
          <a:solidFill>
            <a:srgbClr val="1E1F29"/>
          </a:solidFill>
          <a:ln w="9525">
            <a:solidFill>
              <a:srgbClr val="32333F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pic>
        <p:nvPicPr>
          <p:cNvPr id="6" name="Image 1" descr="C:\Users\cesar\OneDrive\Desktop\panel interactivo\presentacion\capturas\08-av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8064" y="1847088"/>
            <a:ext cx="6583680" cy="37033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798064" y="56692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C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porcentaje general y el detalle por etapa. Se actualiza editando un número: no hay que rehacer ninguna imagen.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621792" y="63459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5C5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etapas y porcentajes los define INMOL para cada proyecto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420624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E33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3504" y="69494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mismo panel, vertical u horizontal</a:t>
            </a:r>
            <a:endParaRPr lang="en-US" sz="2900" dirty="0"/>
          </a:p>
        </p:txBody>
      </p:sp>
      <p:pic>
        <p:nvPicPr>
          <p:cNvPr id="4" name="Image 0" descr="C:\Users\cesar\OneDrive\Desktop\panel interactivo\assets\inmol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00232" y="402336"/>
            <a:ext cx="548640" cy="51297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21792" y="164592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C9C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tótems de feria son verticales. El panel detecta la proporción de la pantalla y reacomoda todo solo: no hay dos versiones que mantener.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21792" y="2880360"/>
            <a:ext cx="384048" cy="384048"/>
          </a:xfrm>
          <a:prstGeom prst="ellipse">
            <a:avLst/>
          </a:prstGeom>
          <a:solidFill>
            <a:srgbClr val="E3333E"/>
          </a:solidFill>
          <a:ln/>
        </p:spPr>
      </p:sp>
      <p:sp>
        <p:nvSpPr>
          <p:cNvPr id="7" name="Text 4"/>
          <p:cNvSpPr/>
          <p:nvPr/>
        </p:nvSpPr>
        <p:spPr>
          <a:xfrm>
            <a:off x="621792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285292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plano se reacomoda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188720" y="3172968"/>
            <a:ext cx="5102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horizontal las manzanas van en fila; en vertical se apilan y los lotes salen casi al doble de tamaño.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1792" y="4069080"/>
            <a:ext cx="384048" cy="384048"/>
          </a:xfrm>
          <a:prstGeom prst="ellipse">
            <a:avLst/>
          </a:prstGeom>
          <a:solidFill>
            <a:srgbClr val="E3333E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404164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letra mantiene su tamaño físico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188720" y="4361688"/>
            <a:ext cx="5102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con el lado más largo de la pantalla, así que se lee igual de lejos en las dos orientaciones.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21792" y="5257800"/>
            <a:ext cx="384048" cy="384048"/>
          </a:xfrm>
          <a:prstGeom prst="ellipse">
            <a:avLst/>
          </a:prstGeom>
          <a:solidFill>
            <a:srgbClr val="E3333E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5257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188720" y="52303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Verificado con clics reales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188720" y="5550408"/>
            <a:ext cx="5102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prueba automáticamente en 1920×1080 y en 1080×1920 antes de cada entrega.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761988" y="1824228"/>
            <a:ext cx="2386584" cy="4164584"/>
          </a:xfrm>
          <a:prstGeom prst="rect">
            <a:avLst/>
          </a:prstGeom>
          <a:solidFill>
            <a:srgbClr val="1E1F29"/>
          </a:solidFill>
          <a:ln w="9525">
            <a:solidFill>
              <a:srgbClr val="32333F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pic>
        <p:nvPicPr>
          <p:cNvPr id="19" name="Image 1" descr="C:\Users\cesar\OneDrive\Desktop\panel interactivo\presentacion\capturas\v-02-men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874520"/>
            <a:ext cx="2286000" cy="406400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9322308" y="1824228"/>
            <a:ext cx="2386584" cy="4164584"/>
          </a:xfrm>
          <a:prstGeom prst="rect">
            <a:avLst/>
          </a:prstGeom>
          <a:solidFill>
            <a:srgbClr val="1E1F29"/>
          </a:solidFill>
          <a:ln w="9525">
            <a:solidFill>
              <a:srgbClr val="32333F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pic>
        <p:nvPicPr>
          <p:cNvPr id="21" name="Image 2" descr="C:\Users\cesar\OneDrive\Desktop\panel interactivo\presentacion\capturas\v-03-lot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1874520"/>
            <a:ext cx="2286000" cy="406400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812280" y="6053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9372600" y="6053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420624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E33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3504" y="69494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Listo para los tres proyectos</a:t>
            </a:r>
            <a:endParaRPr lang="en-US" sz="2900" dirty="0"/>
          </a:p>
        </p:txBody>
      </p:sp>
      <p:pic>
        <p:nvPicPr>
          <p:cNvPr id="4" name="Image 0" descr="C:\Users\cesar\OneDrive\Desktop\panel interactivo\assets\inmol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00232" y="402336"/>
            <a:ext cx="548640" cy="51297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20624" y="2098548"/>
            <a:ext cx="3666744" cy="2106549"/>
          </a:xfrm>
          <a:prstGeom prst="rect">
            <a:avLst/>
          </a:prstGeom>
          <a:solidFill>
            <a:srgbClr val="1E1F29"/>
          </a:solidFill>
          <a:ln w="9525">
            <a:solidFill>
              <a:srgbClr val="32333F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pic>
        <p:nvPicPr>
          <p:cNvPr id="6" name="Image 1" descr="C:\Users\cesar\OneDrive\Desktop\panel interactivo\presentacion\capturas\10-libert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" y="2148840"/>
            <a:ext cx="3566160" cy="200596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70916" y="426110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Comercial Libertad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470916" y="45720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 Cruz de la Sierra · 96 locales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4261104" y="2098548"/>
            <a:ext cx="3666744" cy="2106549"/>
          </a:xfrm>
          <a:prstGeom prst="rect">
            <a:avLst/>
          </a:prstGeom>
          <a:solidFill>
            <a:srgbClr val="1E1F29"/>
          </a:solidFill>
          <a:ln w="9525">
            <a:solidFill>
              <a:srgbClr val="32333F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pic>
        <p:nvPicPr>
          <p:cNvPr id="10" name="Image 2" descr="C:\Users\cesar\OneDrive\Desktop\panel interactivo\presentacion\capturas\11-libertad-local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1396" y="2148840"/>
            <a:ext cx="3566160" cy="200596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311396" y="426110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locales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4311396" y="45720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mecánica, adaptada a un centro comercial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8101584" y="2098548"/>
            <a:ext cx="3666744" cy="2106549"/>
          </a:xfrm>
          <a:prstGeom prst="rect">
            <a:avLst/>
          </a:prstGeom>
          <a:solidFill>
            <a:srgbClr val="1E1F29"/>
          </a:solidFill>
          <a:ln w="9525">
            <a:solidFill>
              <a:srgbClr val="32333F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pic>
        <p:nvPicPr>
          <p:cNvPr id="14" name="Image 3" descr="C:\Users\cesar\OneDrive\Desktop\panel interactivo\presentacion\capturas\12-tercer-proyect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876" y="2148840"/>
            <a:ext cx="3566160" cy="200596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151876" y="426110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Tercer proyecto</a:t>
            </a:r>
            <a:endParaRPr lang="en-US" sz="1400" dirty="0"/>
          </a:p>
        </p:txBody>
      </p:sp>
      <p:sp>
        <p:nvSpPr>
          <p:cNvPr id="16" name="Text 10"/>
          <p:cNvSpPr/>
          <p:nvPr/>
        </p:nvSpPr>
        <p:spPr>
          <a:xfrm>
            <a:off x="8151876" y="45720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completa, esperando su contenido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621792" y="5440680"/>
            <a:ext cx="1092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C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 de proyecto no cambia la forma de usar el panel: las cinco secciones son siempre las mismas.</a:t>
            </a:r>
            <a:endParaRPr lang="en-US" sz="1300" dirty="0"/>
          </a:p>
        </p:txBody>
      </p:sp>
      <p:sp>
        <p:nvSpPr>
          <p:cNvPr id="18" name="Text 12"/>
          <p:cNvSpPr/>
          <p:nvPr/>
        </p:nvSpPr>
        <p:spPr>
          <a:xfrm>
            <a:off x="621792" y="63459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5C5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un cuarto proyecto no requiere rehacer el panel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420624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E33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TÉCNICA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3504" y="69494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vive dentro del equipo</a:t>
            </a:r>
            <a:endParaRPr lang="en-US" sz="2900" dirty="0"/>
          </a:p>
        </p:txBody>
      </p:sp>
      <p:pic>
        <p:nvPicPr>
          <p:cNvPr id="4" name="Image 0" descr="C:\Users\cesar\OneDrive\Desktop\panel interactivo\assets\inmol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00232" y="402336"/>
            <a:ext cx="548640" cy="51297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21792" y="1627632"/>
            <a:ext cx="10927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C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pabellón la conexión falla cuando se llena de gente. Por eso el panel no depende de la red en ningún momento: mapas, tipografías y datos están dentro del propio equipo.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370332" y="2542032"/>
            <a:ext cx="2670048" cy="1572768"/>
          </a:xfrm>
          <a:prstGeom prst="roundRect">
            <a:avLst>
              <a:gd name="adj" fmla="val 3488"/>
            </a:avLst>
          </a:prstGeom>
          <a:solidFill>
            <a:srgbClr val="15161D"/>
          </a:solidFill>
          <a:ln w="9525">
            <a:solidFill>
              <a:srgbClr val="2A2B3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4652" y="2724912"/>
            <a:ext cx="212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33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644652" y="3456432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9C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peticiones a internet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96412" y="2542032"/>
            <a:ext cx="2670048" cy="1572768"/>
          </a:xfrm>
          <a:prstGeom prst="roundRect">
            <a:avLst>
              <a:gd name="adj" fmla="val 3488"/>
            </a:avLst>
          </a:prstGeom>
          <a:solidFill>
            <a:srgbClr val="15161D"/>
          </a:solidFill>
          <a:ln w="9525">
            <a:solidFill>
              <a:srgbClr val="2A2B3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570732" y="2724912"/>
            <a:ext cx="212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33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3570732" y="3456432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9C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que pagar por mes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22492" y="2542032"/>
            <a:ext cx="2670048" cy="1572768"/>
          </a:xfrm>
          <a:prstGeom prst="roundRect">
            <a:avLst>
              <a:gd name="adj" fmla="val 3488"/>
            </a:avLst>
          </a:prstGeom>
          <a:solidFill>
            <a:srgbClr val="15161D"/>
          </a:solidFill>
          <a:ln w="9525">
            <a:solidFill>
              <a:srgbClr val="2A2B3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96812" y="2724912"/>
            <a:ext cx="212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33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6496812" y="3456432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9C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 que se copia a un pendrive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9148572" y="2542032"/>
            <a:ext cx="2670048" cy="1572768"/>
          </a:xfrm>
          <a:prstGeom prst="roundRect">
            <a:avLst>
              <a:gd name="adj" fmla="val 3488"/>
            </a:avLst>
          </a:prstGeom>
          <a:solidFill>
            <a:srgbClr val="15161D"/>
          </a:solidFill>
          <a:ln w="9525">
            <a:solidFill>
              <a:srgbClr val="2A2B3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422892" y="2724912"/>
            <a:ext cx="212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33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días</a:t>
            </a:r>
            <a:endParaRPr lang="en-US" sz="3600" dirty="0"/>
          </a:p>
        </p:txBody>
      </p:sp>
      <p:sp>
        <p:nvSpPr>
          <p:cNvPr id="17" name="Text 14"/>
          <p:cNvSpPr/>
          <p:nvPr/>
        </p:nvSpPr>
        <p:spPr>
          <a:xfrm>
            <a:off x="9422892" y="3456432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9C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feria sin reiniciar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21792" y="4480560"/>
            <a:ext cx="10927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sí conviene preparar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21792" y="4846320"/>
            <a:ext cx="10927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de respaldo con la misma carpeta copiada, listo para enchufar.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 para que un microcorte no cueste cinco minutos frente a un cliente.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con actualizaciones, suspensión y notificaciones desactivadas.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Quince minutos de capacitación al equipo comercial: si no lo saben usar, vuelven al celular.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21792" y="63459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5C5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Starlink deja de ser un requisito para que el stand funcione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420624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E33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AVANZAR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3504" y="69494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necesitamos de INMOL</a:t>
            </a:r>
            <a:endParaRPr lang="en-US" sz="2900" dirty="0"/>
          </a:p>
        </p:txBody>
      </p:sp>
      <p:pic>
        <p:nvPicPr>
          <p:cNvPr id="4" name="Image 0" descr="C:\Users\cesar\OneDrive\Desktop\panel interactivo\assets\inmol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00232" y="402336"/>
            <a:ext cx="548640" cy="51297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21792" y="1609344"/>
            <a:ext cx="10927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C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desarrollo ya está hecho. Lo que define la fecha de entrega es el material.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21792" y="2139696"/>
            <a:ext cx="5440680" cy="2487168"/>
          </a:xfrm>
          <a:prstGeom prst="roundRect">
            <a:avLst>
              <a:gd name="adj" fmla="val 2206"/>
            </a:avLst>
          </a:prstGeom>
          <a:solidFill>
            <a:srgbClr val="15161D"/>
          </a:solidFill>
          <a:ln w="9525">
            <a:solidFill>
              <a:srgbClr val="2A2B3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382512" y="2139696"/>
            <a:ext cx="5184648" cy="2487168"/>
          </a:xfrm>
          <a:prstGeom prst="roundRect">
            <a:avLst>
              <a:gd name="adj" fmla="val 2206"/>
            </a:avLst>
          </a:prstGeom>
          <a:solidFill>
            <a:srgbClr val="15161D"/>
          </a:solidFill>
          <a:ln w="9525">
            <a:solidFill>
              <a:srgbClr val="2A2B3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23774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del proyecto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675120" y="23774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 y montaje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914400" y="2798064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9C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Planos de los tres proyectos, en vectorial si es posible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14400" y="321868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9C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o Excel de disponibilidad de lotes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14400" y="36393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9C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Fotografías actualizadas de cada proyecto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14400" y="405993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9C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de referencia reales y sus distancias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75120" y="279806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9C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de obra y su porcentaje de avance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675120" y="321868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9C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y datos del tercer proyecto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675120" y="363931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9C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satelitales desde Google Earth Pro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675120" y="4059936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9C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del stand y ubicación de las pantallas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21792" y="4882896"/>
            <a:ext cx="10927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370332" y="5303520"/>
            <a:ext cx="329184" cy="329184"/>
          </a:xfrm>
          <a:prstGeom prst="ellipse">
            <a:avLst/>
          </a:prstGeom>
          <a:solidFill>
            <a:srgbClr val="E3333E"/>
          </a:solidFill>
          <a:ln/>
        </p:spPr>
      </p:sp>
      <p:sp>
        <p:nvSpPr>
          <p:cNvPr id="20" name="Text 17"/>
          <p:cNvSpPr/>
          <p:nvPr/>
        </p:nvSpPr>
        <p:spPr>
          <a:xfrm>
            <a:off x="370332" y="5303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809244" y="52852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Prototipo en tablet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809244" y="5559552"/>
            <a:ext cx="2231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probar la navegación táctil con el equipo comercial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3296412" y="5303520"/>
            <a:ext cx="329184" cy="329184"/>
          </a:xfrm>
          <a:prstGeom prst="ellipse">
            <a:avLst/>
          </a:prstGeom>
          <a:solidFill>
            <a:srgbClr val="E3333E"/>
          </a:solidFill>
          <a:ln/>
        </p:spPr>
      </p:sp>
      <p:sp>
        <p:nvSpPr>
          <p:cNvPr id="24" name="Text 21"/>
          <p:cNvSpPr/>
          <p:nvPr/>
        </p:nvSpPr>
        <p:spPr>
          <a:xfrm>
            <a:off x="3296412" y="5303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3735324" y="52852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de contenido real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3735324" y="5559552"/>
            <a:ext cx="2231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Reemplaza el material de ejemplo por el de INMOL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222492" y="5303520"/>
            <a:ext cx="329184" cy="329184"/>
          </a:xfrm>
          <a:prstGeom prst="ellipse">
            <a:avLst/>
          </a:prstGeom>
          <a:solidFill>
            <a:srgbClr val="E3333E"/>
          </a:solidFill>
          <a:ln/>
        </p:spPr>
      </p:sp>
      <p:sp>
        <p:nvSpPr>
          <p:cNvPr id="28" name="Text 25"/>
          <p:cNvSpPr/>
          <p:nvPr/>
        </p:nvSpPr>
        <p:spPr>
          <a:xfrm>
            <a:off x="6222492" y="5303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6661404" y="52852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en la pantalla real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6661404" y="5559552"/>
            <a:ext cx="2231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legibilidad a distancia antes del montaje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9148572" y="5303520"/>
            <a:ext cx="329184" cy="329184"/>
          </a:xfrm>
          <a:prstGeom prst="ellipse">
            <a:avLst/>
          </a:prstGeom>
          <a:solidFill>
            <a:srgbClr val="E3333E"/>
          </a:solidFill>
          <a:ln/>
        </p:spPr>
      </p:sp>
      <p:sp>
        <p:nvSpPr>
          <p:cNvPr id="32" name="Text 29"/>
          <p:cNvSpPr/>
          <p:nvPr/>
        </p:nvSpPr>
        <p:spPr>
          <a:xfrm>
            <a:off x="9148572" y="5303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33" name="Text 30"/>
          <p:cNvSpPr/>
          <p:nvPr/>
        </p:nvSpPr>
        <p:spPr>
          <a:xfrm>
            <a:off x="9587484" y="52852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durante la feria</a:t>
            </a:r>
            <a:endParaRPr lang="en-US" sz="1250" dirty="0"/>
          </a:p>
        </p:txBody>
      </p:sp>
      <p:sp>
        <p:nvSpPr>
          <p:cNvPr id="34" name="Text 31"/>
          <p:cNvSpPr/>
          <p:nvPr/>
        </p:nvSpPr>
        <p:spPr>
          <a:xfrm>
            <a:off x="9587484" y="5559552"/>
            <a:ext cx="2231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A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diez días, con equipo de respaldo preparado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621792" y="63459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5C5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www.inmol.com.bo   ·   +591 755 90031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INMOL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Interactivo INMOL</dc:title>
  <dc:subject>PptxGenJS Presentation</dc:subject>
  <dc:creator>ProShop</dc:creator>
  <cp:lastModifiedBy>ProShop</cp:lastModifiedBy>
  <cp:revision>1</cp:revision>
  <dcterms:created xsi:type="dcterms:W3CDTF">2026-08-12T15:49:18Z</dcterms:created>
  <dcterms:modified xsi:type="dcterms:W3CDTF">2026-08-12T15:49:18Z</dcterms:modified>
</cp:coreProperties>
</file>