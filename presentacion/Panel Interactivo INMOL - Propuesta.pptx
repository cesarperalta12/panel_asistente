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El panel reemplaza la maqueta física del stand con una presentación digital táctil que funciona sin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valor central es que el vendedor pueda señalar un lote concreto, igual que con la maqueta, pero con información que la maqueta no tenía.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 en que arranca solo al encender y vuelve solo a la atracción: no depende de que el equipo comercial recuerde hacer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trabajo de esta pantalla es uno solo: frenar a la gente que camina por el pasillo.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el tercer proyecto ya tiene su lugar reservado y toda la estructura hecha.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secciones fijas: el vendedor siempre sabe dónde está cada cosa, sin importar 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técnico clave: Google Maps no funciona sin internet y sus términos prohíben guardar los tiles. La solución correcta es capturar las cuatro alturas desde Google Earth Pro antes de la feria.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nombres actuales son de ejemplo; INMOL debe entregar las referencias reales de cada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pantalla que más se va a usar. Es la que permite señalar un lote concreto durante la conversación comercial.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Responde una de las preguntas más frecuentes en feria: ¿en qué estado está la obra hoy?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por qué se descartó el micrófono abierto: el ruido de feria lo hace poco confiable y el fallo ocurre delante del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el sistema no está hecho a medida de un proyecto: sirve igual para una urbanización y para un centro comercial.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argumento que baja el riesgo: la feria no depende de la conexión ni de Starlink.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pidiendo una fecha concreta para la entrega del material: es lo que determina si se llega con margen a la feria.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47588" y="1522476"/>
            <a:ext cx="6821424" cy="3893785"/>
          </a:xfrm>
          <a:prstGeom prst="rect">
            <a:avLst/>
          </a:prstGeom>
          <a:solidFill>
            <a:srgbClr val="1E1F29"/>
          </a:solidFill>
          <a:ln w="9525">
            <a:solidFill>
              <a:srgbClr val="32333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3" name="Image 0" descr="C:\Users\cesar\OneDrive\Desktop\panel interactivo\presentacion\capturas\00-port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572768"/>
            <a:ext cx="6720840" cy="3793201"/>
          </a:xfrm>
          <a:prstGeom prst="rect">
            <a:avLst/>
          </a:prstGeom>
        </p:spPr>
      </p:pic>
      <p:pic>
        <p:nvPicPr>
          <p:cNvPr id="4" name="Image 1" descr="C:/Users/cesar/OneDrive/Desktop/panel interactivo/assets/inmo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30352"/>
            <a:ext cx="932688" cy="8714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20848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80" kern="0" dirty="0">
                <a:solidFill>
                  <a:srgbClr val="E3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· STAND DE FERIA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603504" y="2432304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</a:t>
            </a:r>
            <a:endParaRPr lang="en-US" sz="46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Interactivo</a:t>
            </a:r>
            <a:endParaRPr lang="en-US" sz="4600" dirty="0"/>
          </a:p>
        </p:txBody>
      </p:sp>
      <p:sp>
        <p:nvSpPr>
          <p:cNvPr id="7" name="Text 3"/>
          <p:cNvSpPr/>
          <p:nvPr/>
        </p:nvSpPr>
        <p:spPr>
          <a:xfrm>
            <a:off x="640080" y="422452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digital de los tres proyectos, en pantalla táctil y sin conexión a internet.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40080" y="5943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40" kern="0" dirty="0">
                <a:solidFill>
                  <a:srgbClr val="5C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Desarrollos Inmobiliarios con respaldo y confianza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2062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3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PLANTEAMIENTO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3504" y="69494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maqueta a la pantalla</a:t>
            </a:r>
            <a:endParaRPr lang="en-US" sz="2900" dirty="0"/>
          </a:p>
        </p:txBody>
      </p:sp>
      <p:pic>
        <p:nvPicPr>
          <p:cNvPr id="4" name="Image 0" descr="C:/Users/cesar/OneDrive/Desktop/panel interactivo/assets/inmo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0232" y="402336"/>
            <a:ext cx="548640" cy="5129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" y="1627632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maqueta hacía una sola cosa que ningún video hace: permitía señalar «este lote, acá, este es el tuyo». El panel conserva eso y agrega lo que la maqueta nunca pudo mostrar.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1792" y="2926080"/>
            <a:ext cx="384048" cy="384048"/>
          </a:xfrm>
          <a:prstGeom prst="ellipse">
            <a:avLst/>
          </a:prstGeom>
          <a:solidFill>
            <a:srgbClr val="E3333E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2898648"/>
            <a:ext cx="4142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proyectos en un solo lugar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88720" y="3218688"/>
            <a:ext cx="4142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Ubicación, plano, disponibilidad y avance de obra, organizados por proyecto.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" y="4059936"/>
            <a:ext cx="384048" cy="384048"/>
          </a:xfrm>
          <a:prstGeom prst="ellipse">
            <a:avLst/>
          </a:prstGeom>
          <a:solidFill>
            <a:srgbClr val="E3333E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88720" y="4032504"/>
            <a:ext cx="4142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actualiza en minutos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88720" y="4352544"/>
            <a:ext cx="4142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disponibilidad cambia durante la feria; el panel se actualiza sin rehacer nada.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1792" y="5193792"/>
            <a:ext cx="384048" cy="384048"/>
          </a:xfrm>
          <a:prstGeom prst="ellipse">
            <a:avLst/>
          </a:prstGeom>
          <a:solidFill>
            <a:srgbClr val="E3333E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5193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88720" y="5166360"/>
            <a:ext cx="4142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 el espacio, no el presupuesto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88720" y="5486400"/>
            <a:ext cx="4142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carpeta en un pendrive reemplaza el transporte y armado de la maqueta.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893308" y="2281428"/>
            <a:ext cx="5815584" cy="3315272"/>
          </a:xfrm>
          <a:prstGeom prst="rect">
            <a:avLst/>
          </a:prstGeom>
          <a:solidFill>
            <a:srgbClr val="1E1F29"/>
          </a:solidFill>
          <a:ln w="9525">
            <a:solidFill>
              <a:srgbClr val="32333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19" name="Image 1" descr="C:\Users\cesar\OneDrive\Desktop\panel interactivo\presentacion\capturas\09-asisten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331720"/>
            <a:ext cx="5715000" cy="32146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943600" y="5705856"/>
            <a:ext cx="5715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proyecto con el asistente abierto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21792" y="63459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5C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Interactivo INMOL · Propuesta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2062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3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3504" y="69494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usa durante la feria</a:t>
            </a:r>
            <a:endParaRPr lang="en-US" sz="2900" dirty="0"/>
          </a:p>
        </p:txBody>
      </p:sp>
      <p:pic>
        <p:nvPicPr>
          <p:cNvPr id="4" name="Image 0" descr="C:/Users/cesar/OneDrive/Desktop/panel interactivo/assets/inmo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0232" y="402336"/>
            <a:ext cx="548640" cy="51297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70332" y="1874520"/>
            <a:ext cx="2670048" cy="3063240"/>
          </a:xfrm>
          <a:prstGeom prst="roundRect">
            <a:avLst>
              <a:gd name="adj" fmla="val 2055"/>
            </a:avLst>
          </a:prstGeom>
          <a:solidFill>
            <a:srgbClr val="15161D"/>
          </a:solidFill>
          <a:ln w="9525">
            <a:solidFill>
              <a:srgbClr val="2A2B3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4652" y="2176272"/>
            <a:ext cx="457200" cy="457200"/>
          </a:xfrm>
          <a:prstGeom prst="ellipse">
            <a:avLst/>
          </a:prstGeom>
          <a:solidFill>
            <a:srgbClr val="E3333E"/>
          </a:solidFill>
          <a:ln/>
        </p:spPr>
      </p:sp>
      <p:sp>
        <p:nvSpPr>
          <p:cNvPr id="7" name="Text 4"/>
          <p:cNvSpPr/>
          <p:nvPr/>
        </p:nvSpPr>
        <p:spPr>
          <a:xfrm>
            <a:off x="644652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4652" y="2798064"/>
            <a:ext cx="21214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enciende y arranca solo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44652" y="3419856"/>
            <a:ext cx="21214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dar energía a la pantalla, el panel retoma la presentación sin que nadie toque nada. No depende de que alguien se acuerde de abrirlo cada mañana.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96412" y="1874520"/>
            <a:ext cx="2670048" cy="3063240"/>
          </a:xfrm>
          <a:prstGeom prst="roundRect">
            <a:avLst>
              <a:gd name="adj" fmla="val 2055"/>
            </a:avLst>
          </a:prstGeom>
          <a:solidFill>
            <a:srgbClr val="15161D"/>
          </a:solidFill>
          <a:ln w="9525">
            <a:solidFill>
              <a:srgbClr val="2A2B3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70732" y="2176272"/>
            <a:ext cx="457200" cy="457200"/>
          </a:xfrm>
          <a:prstGeom prst="ellipse">
            <a:avLst/>
          </a:prstGeom>
          <a:solidFill>
            <a:srgbClr val="E3333E"/>
          </a:solidFill>
          <a:ln/>
        </p:spPr>
      </p:sp>
      <p:sp>
        <p:nvSpPr>
          <p:cNvPr id="12" name="Text 9"/>
          <p:cNvSpPr/>
          <p:nvPr/>
        </p:nvSpPr>
        <p:spPr>
          <a:xfrm>
            <a:off x="3570732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570732" y="2798064"/>
            <a:ext cx="21214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Atrae desde el pasillo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3570732" y="3419856"/>
            <a:ext cx="21214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entre los tres proyectos con el nombre grande, una frase corta y tres datos. Sin audio, para que funcione en un pabellón ruidoso.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22492" y="1874520"/>
            <a:ext cx="2670048" cy="3063240"/>
          </a:xfrm>
          <a:prstGeom prst="roundRect">
            <a:avLst>
              <a:gd name="adj" fmla="val 2055"/>
            </a:avLst>
          </a:prstGeom>
          <a:solidFill>
            <a:srgbClr val="15161D"/>
          </a:solidFill>
          <a:ln w="9525">
            <a:solidFill>
              <a:srgbClr val="2A2B3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96812" y="2176272"/>
            <a:ext cx="457200" cy="457200"/>
          </a:xfrm>
          <a:prstGeom prst="ellipse">
            <a:avLst/>
          </a:prstGeom>
          <a:solidFill>
            <a:srgbClr val="E3333E"/>
          </a:solidFill>
          <a:ln/>
        </p:spPr>
      </p:sp>
      <p:sp>
        <p:nvSpPr>
          <p:cNvPr id="17" name="Text 14"/>
          <p:cNvSpPr/>
          <p:nvPr/>
        </p:nvSpPr>
        <p:spPr>
          <a:xfrm>
            <a:off x="6496812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96812" y="2798064"/>
            <a:ext cx="21214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visitante toca y explora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496812" y="3419856"/>
            <a:ext cx="21214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un proyecto y navega su ubicación, el plano de lotes, el avance de obra y el asistente. El vendedor acompaña sobre la misma pantalla.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148572" y="1874520"/>
            <a:ext cx="2670048" cy="3063240"/>
          </a:xfrm>
          <a:prstGeom prst="roundRect">
            <a:avLst>
              <a:gd name="adj" fmla="val 2055"/>
            </a:avLst>
          </a:prstGeom>
          <a:solidFill>
            <a:srgbClr val="15161D"/>
          </a:solidFill>
          <a:ln w="9525">
            <a:solidFill>
              <a:srgbClr val="2A2B3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422892" y="2176272"/>
            <a:ext cx="457200" cy="457200"/>
          </a:xfrm>
          <a:prstGeom prst="ellipse">
            <a:avLst/>
          </a:prstGeom>
          <a:solidFill>
            <a:srgbClr val="E3333E"/>
          </a:solidFill>
          <a:ln/>
        </p:spPr>
      </p:sp>
      <p:sp>
        <p:nvSpPr>
          <p:cNvPr id="22" name="Text 19"/>
          <p:cNvSpPr/>
          <p:nvPr/>
        </p:nvSpPr>
        <p:spPr>
          <a:xfrm>
            <a:off x="9422892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9422892" y="2798064"/>
            <a:ext cx="21214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Vuelve solo a la atracción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9422892" y="3419856"/>
            <a:ext cx="21214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90 segundos sin uso regresa a la presentación. Nunca queda «trabado» en la pantalla que dejó el visitante anterior.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21792" y="544068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comercial no tiene que administrar la pantalla: sólo usarla cuando hay alguien delante.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21792" y="63459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5C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completo, sin intervención · atracción → menú → proyecto → atracción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2062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3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3504" y="69494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atracción: frenar a quien pasa</a:t>
            </a:r>
            <a:endParaRPr lang="en-US" sz="2900" dirty="0"/>
          </a:p>
        </p:txBody>
      </p:sp>
      <p:pic>
        <p:nvPicPr>
          <p:cNvPr id="4" name="Image 0" descr="C:/Users/cesar/OneDrive/Desktop/panel interactivo/assets/inmo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0232" y="402336"/>
            <a:ext cx="548640" cy="51297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668780"/>
            <a:ext cx="7004304" cy="3983927"/>
          </a:xfrm>
          <a:prstGeom prst="rect">
            <a:avLst/>
          </a:prstGeom>
          <a:solidFill>
            <a:srgbClr val="1E1F29"/>
          </a:solidFill>
          <a:ln w="9525">
            <a:solidFill>
              <a:srgbClr val="32333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6" name="Image 1" descr="C:\Users\cesar\OneDrive\Desktop\panel interactivo\presentacion\capturas\01-atracc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19072"/>
            <a:ext cx="6903720" cy="3883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82128" y="1783080"/>
            <a:ext cx="3703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entre los tres proyectos con el nombre grande, una frase corta y tres datos. Sin audio, para que funcione en un pabellón ruidoso.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882128" y="334670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s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7882128" y="4041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PROYECTO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9857232" y="3346704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9857232" y="40416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EN ROTACIÓN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882128" y="471830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7882128" y="5413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CLICS PARA INICIAR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9857232" y="4718304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s</a:t>
            </a:r>
            <a:endParaRPr lang="en-US" sz="4000" dirty="0"/>
          </a:p>
        </p:txBody>
      </p:sp>
      <p:sp>
        <p:nvSpPr>
          <p:cNvPr id="15" name="Text 11"/>
          <p:cNvSpPr/>
          <p:nvPr/>
        </p:nvSpPr>
        <p:spPr>
          <a:xfrm>
            <a:off x="9857232" y="54132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VUELVE SOLO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21792" y="63459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5C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Tipografía dimensionada para lectura a 6–8 metros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2062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3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3504" y="69494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tres proyectos, de un vistazo</a:t>
            </a:r>
            <a:endParaRPr lang="en-US" sz="2900" dirty="0"/>
          </a:p>
        </p:txBody>
      </p:sp>
      <p:pic>
        <p:nvPicPr>
          <p:cNvPr id="4" name="Image 0" descr="C:/Users/cesar/OneDrive/Desktop/panel interactivo/assets/inmo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0232" y="402336"/>
            <a:ext cx="548640" cy="51297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7772" y="1723644"/>
            <a:ext cx="6684264" cy="3803904"/>
          </a:xfrm>
          <a:prstGeom prst="rect">
            <a:avLst/>
          </a:prstGeom>
          <a:solidFill>
            <a:srgbClr val="1E1F29"/>
          </a:solidFill>
          <a:ln w="9525">
            <a:solidFill>
              <a:srgbClr val="32333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6" name="Image 1" descr="C:\Users\cesar\OneDrive\Desktop\panel interactivo\presentacion\capturas\02-men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" y="1773936"/>
            <a:ext cx="6583680" cy="3703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792" y="5193792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tarjeta muestra el tipo de proyecto, su ubicación y dos datos clave. Un toque abre el proyecto completo.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309360" y="5193792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tercer proyecto ya está construido y espera su contenido: nombre, plano, fotos y avance de obra.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21792" y="63459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5C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Urbanización El Encanto · Centro Comercial Libertad · tercer proyecto por definir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2062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3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UN PROYECTO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3504" y="69494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organizado en cinco secciones</a:t>
            </a:r>
            <a:endParaRPr lang="en-US" sz="2900" dirty="0"/>
          </a:p>
        </p:txBody>
      </p:sp>
      <p:pic>
        <p:nvPicPr>
          <p:cNvPr id="4" name="Image 0" descr="C:/Users/cesar/OneDrive/Desktop/panel interactivo/assets/inmo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0232" y="402336"/>
            <a:ext cx="548640" cy="51297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92140" y="2189988"/>
            <a:ext cx="5952744" cy="3392424"/>
          </a:xfrm>
          <a:prstGeom prst="rect">
            <a:avLst/>
          </a:prstGeom>
          <a:solidFill>
            <a:srgbClr val="1E1F29"/>
          </a:solidFill>
          <a:ln w="9525">
            <a:solidFill>
              <a:srgbClr val="32333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6" name="Image 1" descr="C:\Users\cesar\OneDrive\Desktop\panel interactivo\presentacion\capturas\03-resum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432" y="2240280"/>
            <a:ext cx="5852160" cy="32918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21792" y="1837944"/>
            <a:ext cx="310896" cy="310896"/>
          </a:xfrm>
          <a:prstGeom prst="ellipse">
            <a:avLst/>
          </a:prstGeom>
          <a:solidFill>
            <a:srgbClr val="E3333E"/>
          </a:solidFill>
          <a:ln/>
        </p:spPr>
      </p:sp>
      <p:sp>
        <p:nvSpPr>
          <p:cNvPr id="8" name="Text 4"/>
          <p:cNvSpPr/>
          <p:nvPr/>
        </p:nvSpPr>
        <p:spPr>
          <a:xfrm>
            <a:off x="621792" y="1837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097280" y="17830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097280" y="20848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Descripción, servicios y cifras principales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21792" y="2697480"/>
            <a:ext cx="310896" cy="310896"/>
          </a:xfrm>
          <a:prstGeom prst="ellipse">
            <a:avLst/>
          </a:prstGeom>
          <a:solidFill>
            <a:srgbClr val="E3333E"/>
          </a:solidFill>
          <a:ln/>
        </p:spPr>
      </p:sp>
      <p:sp>
        <p:nvSpPr>
          <p:cNvPr id="12" name="Text 8"/>
          <p:cNvSpPr/>
          <p:nvPr/>
        </p:nvSpPr>
        <p:spPr>
          <a:xfrm>
            <a:off x="621792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97280" y="264261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1097280" y="29443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satelital con zoom, desde la región al terreno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1792" y="3557016"/>
            <a:ext cx="310896" cy="310896"/>
          </a:xfrm>
          <a:prstGeom prst="ellipse">
            <a:avLst/>
          </a:prstGeom>
          <a:solidFill>
            <a:srgbClr val="E3333E"/>
          </a:solidFill>
          <a:ln/>
        </p:spPr>
      </p:sp>
      <p:sp>
        <p:nvSpPr>
          <p:cNvPr id="16" name="Text 12"/>
          <p:cNvSpPr/>
          <p:nvPr/>
        </p:nvSpPr>
        <p:spPr>
          <a:xfrm>
            <a:off x="621792" y="3557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097280" y="350215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hay cerca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1097280" y="380390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referencia con su distancia real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21792" y="4416552"/>
            <a:ext cx="310896" cy="310896"/>
          </a:xfrm>
          <a:prstGeom prst="ellipse">
            <a:avLst/>
          </a:prstGeom>
          <a:solidFill>
            <a:srgbClr val="E3333E"/>
          </a:solidFill>
          <a:ln/>
        </p:spPr>
      </p:sp>
      <p:sp>
        <p:nvSpPr>
          <p:cNvPr id="20" name="Text 16"/>
          <p:cNvSpPr/>
          <p:nvPr/>
        </p:nvSpPr>
        <p:spPr>
          <a:xfrm>
            <a:off x="621792" y="4416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097280" y="43616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550" dirty="0"/>
          </a:p>
        </p:txBody>
      </p:sp>
      <p:sp>
        <p:nvSpPr>
          <p:cNvPr id="22" name="Text 18"/>
          <p:cNvSpPr/>
          <p:nvPr/>
        </p:nvSpPr>
        <p:spPr>
          <a:xfrm>
            <a:off x="1097280" y="46634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lotes tocable, con estado y superficie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21792" y="5276088"/>
            <a:ext cx="310896" cy="310896"/>
          </a:xfrm>
          <a:prstGeom prst="ellipse">
            <a:avLst/>
          </a:prstGeom>
          <a:solidFill>
            <a:srgbClr val="E3333E"/>
          </a:solidFill>
          <a:ln/>
        </p:spPr>
      </p:sp>
      <p:sp>
        <p:nvSpPr>
          <p:cNvPr id="24" name="Text 20"/>
          <p:cNvSpPr/>
          <p:nvPr/>
        </p:nvSpPr>
        <p:spPr>
          <a:xfrm>
            <a:off x="621792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097280" y="522122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obra</a:t>
            </a:r>
            <a:endParaRPr lang="en-US" sz="1550" dirty="0"/>
          </a:p>
        </p:txBody>
      </p:sp>
      <p:sp>
        <p:nvSpPr>
          <p:cNvPr id="26" name="Text 22"/>
          <p:cNvSpPr/>
          <p:nvPr/>
        </p:nvSpPr>
        <p:spPr>
          <a:xfrm>
            <a:off x="1097280" y="552297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 general y detalle por etapa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21792" y="63459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5C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estructura para los tres proyectos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2062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3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3504" y="69494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satelital que funciona sin conexión</a:t>
            </a:r>
            <a:endParaRPr lang="en-US" sz="2900" dirty="0"/>
          </a:p>
        </p:txBody>
      </p:sp>
      <p:pic>
        <p:nvPicPr>
          <p:cNvPr id="4" name="Image 0" descr="C:/Users/cesar/OneDrive/Desktop/panel interactivo/assets/inmo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0232" y="402336"/>
            <a:ext cx="548640" cy="5129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" y="1591056"/>
            <a:ext cx="10927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guarda cuatro alturas de la misma ubicación —Región, Ciudad, Zona y Predio— y las encadena con un zoom animado. Se percibe como Google Earth, pero no pide nada a la red.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71500" y="2436876"/>
            <a:ext cx="5495544" cy="3135249"/>
          </a:xfrm>
          <a:prstGeom prst="rect">
            <a:avLst/>
          </a:prstGeom>
          <a:solidFill>
            <a:srgbClr val="1E1F29"/>
          </a:solidFill>
          <a:ln w="9525">
            <a:solidFill>
              <a:srgbClr val="32333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7" name="Image 1" descr="C:\Users\cesar\OneDrive\Desktop\panel interactivo\presentacion\capturas\04-satelital-ciud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487168"/>
            <a:ext cx="5394960" cy="303466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49340" y="2436876"/>
            <a:ext cx="5495544" cy="3135249"/>
          </a:xfrm>
          <a:prstGeom prst="rect">
            <a:avLst/>
          </a:prstGeom>
          <a:solidFill>
            <a:srgbClr val="1E1F29"/>
          </a:solidFill>
          <a:ln w="9525">
            <a:solidFill>
              <a:srgbClr val="32333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9" name="Image 2" descr="C:\Users\cesar\OneDrive\Desktop\panel interactivo\presentacion\capturas\05-satelital-pred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487168"/>
            <a:ext cx="5394960" cy="303466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792" y="561441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 · Ciudad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621792" y="588873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trama urbana, los accesos y el predio señalado.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6199632" y="561441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4 · Predio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6199632" y="588873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terreno con su subdivisión de lotes y la vía de acceso.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621792" y="63459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5C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«Sobrevuelo automático»: recorre los cuatro niveles solo, para presentar sin tocar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2062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3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3504" y="69494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puntos de referencia, a escala</a:t>
            </a:r>
            <a:endParaRPr lang="en-US" sz="2900" dirty="0"/>
          </a:p>
        </p:txBody>
      </p:sp>
      <p:pic>
        <p:nvPicPr>
          <p:cNvPr id="4" name="Image 0" descr="C:/Users/cesar/OneDrive/Desktop/panel interactivo/assets/inmo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0232" y="402336"/>
            <a:ext cx="548640" cy="51297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44668" y="1741932"/>
            <a:ext cx="6300216" cy="3587877"/>
          </a:xfrm>
          <a:prstGeom prst="rect">
            <a:avLst/>
          </a:prstGeom>
          <a:solidFill>
            <a:srgbClr val="1E1F29"/>
          </a:solidFill>
          <a:ln w="9525">
            <a:solidFill>
              <a:srgbClr val="32333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6" name="Image 1" descr="C:\Users\cesar\OneDrive\Desktop\panel interactivo\presentacion\capturas\06-referenci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792224"/>
            <a:ext cx="6199632" cy="34872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792" y="182880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referencia se ubica en su ángulo y a su distancia real sobre anillos de 1, 2 y 3 kilómetros.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21792" y="29260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más legible a distancia que un mapa navegable, y responde la pregunta que el cliente hace de verdad: «¿qué tengo cerca?».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21792" y="422452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621792" y="49194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POR PROYECTO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2889504" y="422452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km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2889504" y="49194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RADIO MOSTRADO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21792" y="63459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5C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referencias y distancias se cargan desde un solo archivo de datos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2062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3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CORAZÓN DEL PANEL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3504" y="69494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Disponibilidad: lo que reemplaza la maqueta</a:t>
            </a:r>
            <a:endParaRPr lang="en-US" sz="2900" dirty="0"/>
          </a:p>
        </p:txBody>
      </p:sp>
      <p:pic>
        <p:nvPicPr>
          <p:cNvPr id="4" name="Image 0" descr="C:/Users/cesar/OneDrive/Desktop/panel interactivo/assets/inmo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0232" y="402336"/>
            <a:ext cx="548640" cy="51297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668780"/>
            <a:ext cx="7415784" cy="4215384"/>
          </a:xfrm>
          <a:prstGeom prst="rect">
            <a:avLst/>
          </a:prstGeom>
          <a:solidFill>
            <a:srgbClr val="1E1F29"/>
          </a:solidFill>
          <a:ln w="9525">
            <a:solidFill>
              <a:srgbClr val="32333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6" name="Image 1" descr="C:\Users\cesar\OneDrive\Desktop\panel interactivo\presentacion\capturas\07-lo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19072"/>
            <a:ext cx="7315200" cy="4114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75320" y="1773936"/>
            <a:ext cx="33101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unidad es tocable. Al tocarla aparece su código, manzana, superficie y categoría.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8275320" y="3044952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35B36B"/>
          </a:solidFill>
          <a:ln/>
        </p:spPr>
      </p:sp>
      <p:sp>
        <p:nvSpPr>
          <p:cNvPr id="9" name="Text 5"/>
          <p:cNvSpPr/>
          <p:nvPr/>
        </p:nvSpPr>
        <p:spPr>
          <a:xfrm>
            <a:off x="8613648" y="29992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275320" y="352044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E0A33A"/>
          </a:solidFill>
          <a:ln/>
        </p:spPr>
      </p:sp>
      <p:sp>
        <p:nvSpPr>
          <p:cNvPr id="11" name="Text 7"/>
          <p:cNvSpPr/>
          <p:nvPr/>
        </p:nvSpPr>
        <p:spPr>
          <a:xfrm>
            <a:off x="8613648" y="3474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Reservado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275320" y="399592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55565F"/>
          </a:solidFill>
          <a:ln/>
        </p:spPr>
      </p:sp>
      <p:sp>
        <p:nvSpPr>
          <p:cNvPr id="13" name="Text 9"/>
          <p:cNvSpPr/>
          <p:nvPr/>
        </p:nvSpPr>
        <p:spPr>
          <a:xfrm>
            <a:off x="8613648" y="39502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Vendido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275320" y="4681728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precios en pantalla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275320" y="5010912"/>
            <a:ext cx="3310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cotización se prepara de forma personalizada. En feria, además, evita que la competencia se lleve la lista de precios en una foto.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21792" y="63459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5C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rápidos: todos · sólo disponibles · reservados · vendidos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2062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3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3504" y="69494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 real, etapa por etapa</a:t>
            </a:r>
            <a:endParaRPr lang="en-US" sz="2900" dirty="0"/>
          </a:p>
        </p:txBody>
      </p:sp>
      <p:pic>
        <p:nvPicPr>
          <p:cNvPr id="4" name="Image 0" descr="C:/Users/cesar/OneDrive/Desktop/panel interactivo/assets/inmo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0232" y="402336"/>
            <a:ext cx="548640" cy="51297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7772" y="1796796"/>
            <a:ext cx="6684264" cy="3803904"/>
          </a:xfrm>
          <a:prstGeom prst="rect">
            <a:avLst/>
          </a:prstGeom>
          <a:solidFill>
            <a:srgbClr val="1E1F29"/>
          </a:solidFill>
          <a:ln w="9525">
            <a:solidFill>
              <a:srgbClr val="32333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6" name="Image 1" descr="C:\Users\cesar\OneDrive\Desktop\panel interactivo\presentacion\capturas\08-av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" y="1847088"/>
            <a:ext cx="6583680" cy="3703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98064" y="56692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porcentaje general y el detalle por etapa. Se actualiza editando un número: no hay que rehacer ninguna imagen.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21792" y="63459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5C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etapas y porcentajes los define INMOL para cada proyecto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2062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3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3504" y="69494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Asistente táctil que responde con voz</a:t>
            </a:r>
            <a:endParaRPr lang="en-US" sz="2900" dirty="0"/>
          </a:p>
        </p:txBody>
      </p:sp>
      <p:pic>
        <p:nvPicPr>
          <p:cNvPr id="4" name="Image 0" descr="C:/Users/cesar/OneDrive/Desktop/panel interactivo/assets/inmo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0232" y="402336"/>
            <a:ext cx="548640" cy="51297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687068"/>
            <a:ext cx="6592824" cy="3752469"/>
          </a:xfrm>
          <a:prstGeom prst="rect">
            <a:avLst/>
          </a:prstGeom>
          <a:solidFill>
            <a:srgbClr val="1E1F29"/>
          </a:solidFill>
          <a:ln w="9525">
            <a:solidFill>
              <a:srgbClr val="32333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6" name="Image 1" descr="C:\Users\cesar\OneDrive\Desktop\panel interactivo\presentacion\capturas\09-asisten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37360"/>
            <a:ext cx="6492240" cy="36518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98080" y="1792224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visitante toca una pregunta y el panel responde hablando, además de llevar la pantalla a la sección correspondiente.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498080" y="312724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táctil y no por micrófono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498080" y="3493008"/>
            <a:ext cx="4069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pabellón de feria tiene entre 70 y 85 decibeles de ruido: el reconocimiento de voz falla mucho, y falla en público.</a:t>
            </a:r>
            <a:endParaRPr lang="en-US" sz="1200" dirty="0"/>
          </a:p>
          <a:p>
            <a:pPr marL="342900" indent="-3429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la gente no se anima a hablarle a una pantalla rodeada de personas.</a:t>
            </a:r>
            <a:endParaRPr lang="en-US" sz="1200" dirty="0"/>
          </a:p>
          <a:p>
            <a:pPr marL="342900" indent="-342900">
              <a:lnSpc>
                <a:spcPct val="11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voz sale del motor de Windows del propio equipo: funciona sin internet y sin latencia.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21792" y="63459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5C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Novedad para el visitante, sin poner en riesgo la presentación comercial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2062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3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3504" y="69494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 para los tres proyectos</a:t>
            </a:r>
            <a:endParaRPr lang="en-US" sz="2900" dirty="0"/>
          </a:p>
        </p:txBody>
      </p:sp>
      <p:pic>
        <p:nvPicPr>
          <p:cNvPr id="4" name="Image 0" descr="C:/Users/cesar/OneDrive/Desktop/panel interactivo/assets/inmo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0232" y="402336"/>
            <a:ext cx="548640" cy="51297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20624" y="2098548"/>
            <a:ext cx="3666744" cy="2106549"/>
          </a:xfrm>
          <a:prstGeom prst="rect">
            <a:avLst/>
          </a:prstGeom>
          <a:solidFill>
            <a:srgbClr val="1E1F29"/>
          </a:solidFill>
          <a:ln w="9525">
            <a:solidFill>
              <a:srgbClr val="32333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6" name="Image 1" descr="C:\Users\cesar\OneDrive\Desktop\panel interactivo\presentacion\capturas\10-libert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" y="2148840"/>
            <a:ext cx="3566160" cy="200596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0916" y="426110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Comercial Libertad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70916" y="45720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Cruz de la Sierra · 96 locales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261104" y="2098548"/>
            <a:ext cx="3666744" cy="2106549"/>
          </a:xfrm>
          <a:prstGeom prst="rect">
            <a:avLst/>
          </a:prstGeom>
          <a:solidFill>
            <a:srgbClr val="1E1F29"/>
          </a:solidFill>
          <a:ln w="9525">
            <a:solidFill>
              <a:srgbClr val="32333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10" name="Image 2" descr="C:\Users\cesar\OneDrive\Desktop\panel interactivo\presentacion\capturas\11-libertad-local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396" y="2148840"/>
            <a:ext cx="3566160" cy="200596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311396" y="426110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locales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4311396" y="45720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mecánica, adaptada a un centro comercial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8101584" y="2098548"/>
            <a:ext cx="3666744" cy="2106549"/>
          </a:xfrm>
          <a:prstGeom prst="rect">
            <a:avLst/>
          </a:prstGeom>
          <a:solidFill>
            <a:srgbClr val="1E1F29"/>
          </a:solidFill>
          <a:ln w="9525">
            <a:solidFill>
              <a:srgbClr val="32333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5000"/>
              </a:srgbClr>
            </a:outerShdw>
          </a:effectLst>
        </p:spPr>
      </p:sp>
      <p:pic>
        <p:nvPicPr>
          <p:cNvPr id="14" name="Image 3" descr="C:\Users\cesar\OneDrive\Desktop\panel interactivo\presentacion\capturas\12-tercer-proyect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876" y="2148840"/>
            <a:ext cx="3566160" cy="200596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151876" y="426110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proyecto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8151876" y="45720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completa, esperando su contenido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621792" y="5440680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de proyecto no cambia la forma de usar el panel: las cinco secciones y el asistente son siempre los mismos.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21792" y="63459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5C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un cuarto proyecto no requiere rehacer el panel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2062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3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TÉCNICA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3504" y="69494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vive dentro del equipo</a:t>
            </a:r>
            <a:endParaRPr lang="en-US" sz="2900" dirty="0"/>
          </a:p>
        </p:txBody>
      </p:sp>
      <p:pic>
        <p:nvPicPr>
          <p:cNvPr id="4" name="Image 0" descr="C:/Users/cesar/OneDrive/Desktop/panel interactivo/assets/inmo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0232" y="402336"/>
            <a:ext cx="548640" cy="5129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" y="1627632"/>
            <a:ext cx="10927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pabellón la conexión falla cuando se llena de gente. Por eso el panel no depende de la red en ningún momento: mapas, tipografías, datos y voz están dentro del propio equipo.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70332" y="2542032"/>
            <a:ext cx="2670048" cy="1572768"/>
          </a:xfrm>
          <a:prstGeom prst="roundRect">
            <a:avLst>
              <a:gd name="adj" fmla="val 3488"/>
            </a:avLst>
          </a:prstGeom>
          <a:solidFill>
            <a:srgbClr val="15161D"/>
          </a:solidFill>
          <a:ln w="9525">
            <a:solidFill>
              <a:srgbClr val="2A2B3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4652" y="2724912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33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44652" y="3456432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peticiones a internet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6412" y="2542032"/>
            <a:ext cx="2670048" cy="1572768"/>
          </a:xfrm>
          <a:prstGeom prst="roundRect">
            <a:avLst>
              <a:gd name="adj" fmla="val 3488"/>
            </a:avLst>
          </a:prstGeom>
          <a:solidFill>
            <a:srgbClr val="15161D"/>
          </a:solidFill>
          <a:ln w="9525">
            <a:solidFill>
              <a:srgbClr val="2A2B3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70732" y="2724912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33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3570732" y="3456432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que pagar por mes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22492" y="2542032"/>
            <a:ext cx="2670048" cy="1572768"/>
          </a:xfrm>
          <a:prstGeom prst="roundRect">
            <a:avLst>
              <a:gd name="adj" fmla="val 3488"/>
            </a:avLst>
          </a:prstGeom>
          <a:solidFill>
            <a:srgbClr val="15161D"/>
          </a:solidFill>
          <a:ln w="9525">
            <a:solidFill>
              <a:srgbClr val="2A2B3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96812" y="2724912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33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6496812" y="3456432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que se copia a un pendrive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148572" y="2542032"/>
            <a:ext cx="2670048" cy="1572768"/>
          </a:xfrm>
          <a:prstGeom prst="roundRect">
            <a:avLst>
              <a:gd name="adj" fmla="val 3488"/>
            </a:avLst>
          </a:prstGeom>
          <a:solidFill>
            <a:srgbClr val="15161D"/>
          </a:solidFill>
          <a:ln w="9525">
            <a:solidFill>
              <a:srgbClr val="2A2B3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422892" y="2724912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333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días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9422892" y="3456432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feria sin reiniciar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1792" y="4480560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sí conviene preparar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21792" y="4846320"/>
            <a:ext cx="10927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respaldo con la misma carpeta copiada, listo para enchufar.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 para que un microcorte no cueste cinco minutos frente a un cliente.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con actualizaciones, suspensión y notificaciones desactivadas.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Quince minutos de capacitación al equipo comercial: si no lo saben usar, vuelven al celular.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21792" y="63459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5C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Starlink deja de ser un requisito para que el stand funcione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2062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33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AVANZAR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3504" y="69494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necesitamos de INMOL</a:t>
            </a:r>
            <a:endParaRPr lang="en-US" sz="2900" dirty="0"/>
          </a:p>
        </p:txBody>
      </p:sp>
      <p:pic>
        <p:nvPicPr>
          <p:cNvPr id="4" name="Image 0" descr="C:/Users/cesar/OneDrive/Desktop/panel interactivo/assets/inmo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0232" y="402336"/>
            <a:ext cx="548640" cy="5129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" y="1609344"/>
            <a:ext cx="10927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desarrollo ya está hecho. Lo que define la fecha de entrega es el material.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1792" y="2139696"/>
            <a:ext cx="5440680" cy="2487168"/>
          </a:xfrm>
          <a:prstGeom prst="roundRect">
            <a:avLst>
              <a:gd name="adj" fmla="val 2206"/>
            </a:avLst>
          </a:prstGeom>
          <a:solidFill>
            <a:srgbClr val="15161D"/>
          </a:solidFill>
          <a:ln w="9525">
            <a:solidFill>
              <a:srgbClr val="2A2B3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382512" y="2139696"/>
            <a:ext cx="5184648" cy="2487168"/>
          </a:xfrm>
          <a:prstGeom prst="roundRect">
            <a:avLst>
              <a:gd name="adj" fmla="val 2206"/>
            </a:avLst>
          </a:prstGeom>
          <a:solidFill>
            <a:srgbClr val="15161D"/>
          </a:solidFill>
          <a:ln w="9525">
            <a:solidFill>
              <a:srgbClr val="2A2B3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377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del proyecto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675120" y="23774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y montaje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14400" y="279806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de los tres proyectos, en vectorial si es posible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32186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o Excel de disponibilidad de lotes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36393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Fotografías actualizadas de cada proyecto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40599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referencia reales y sus distancias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75120" y="279806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de obra y su porcentaje de avance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675120" y="32186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y datos del tercer proyecto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675120" y="363931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marca: logotipo, colores y tipografía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75120" y="405993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stand y ubicación de las pantallas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1792" y="4882896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370332" y="5303520"/>
            <a:ext cx="329184" cy="329184"/>
          </a:xfrm>
          <a:prstGeom prst="ellipse">
            <a:avLst/>
          </a:prstGeom>
          <a:solidFill>
            <a:srgbClr val="E3333E"/>
          </a:solidFill>
          <a:ln/>
        </p:spPr>
      </p:sp>
      <p:sp>
        <p:nvSpPr>
          <p:cNvPr id="20" name="Text 17"/>
          <p:cNvSpPr/>
          <p:nvPr/>
        </p:nvSpPr>
        <p:spPr>
          <a:xfrm>
            <a:off x="370332" y="5303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09244" y="528523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en tablet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09244" y="5559552"/>
            <a:ext cx="2231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probar la navegación táctil con el equipo comercial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296412" y="5303520"/>
            <a:ext cx="329184" cy="329184"/>
          </a:xfrm>
          <a:prstGeom prst="ellipse">
            <a:avLst/>
          </a:prstGeom>
          <a:solidFill>
            <a:srgbClr val="E3333E"/>
          </a:solidFill>
          <a:ln/>
        </p:spPr>
      </p:sp>
      <p:sp>
        <p:nvSpPr>
          <p:cNvPr id="24" name="Text 21"/>
          <p:cNvSpPr/>
          <p:nvPr/>
        </p:nvSpPr>
        <p:spPr>
          <a:xfrm>
            <a:off x="3296412" y="5303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3735324" y="528523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contenido real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3735324" y="5559552"/>
            <a:ext cx="2231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 el material de ejemplo por el de INMOL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222492" y="5303520"/>
            <a:ext cx="329184" cy="329184"/>
          </a:xfrm>
          <a:prstGeom prst="ellipse">
            <a:avLst/>
          </a:prstGeom>
          <a:solidFill>
            <a:srgbClr val="E3333E"/>
          </a:solidFill>
          <a:ln/>
        </p:spPr>
      </p:sp>
      <p:sp>
        <p:nvSpPr>
          <p:cNvPr id="28" name="Text 25"/>
          <p:cNvSpPr/>
          <p:nvPr/>
        </p:nvSpPr>
        <p:spPr>
          <a:xfrm>
            <a:off x="6222492" y="5303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661404" y="528523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en la pantalla real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6661404" y="5559552"/>
            <a:ext cx="2231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legibilidad a distancia antes del montaje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9148572" y="5303520"/>
            <a:ext cx="329184" cy="329184"/>
          </a:xfrm>
          <a:prstGeom prst="ellipse">
            <a:avLst/>
          </a:prstGeom>
          <a:solidFill>
            <a:srgbClr val="E3333E"/>
          </a:solidFill>
          <a:ln/>
        </p:spPr>
      </p:sp>
      <p:sp>
        <p:nvSpPr>
          <p:cNvPr id="32" name="Text 29"/>
          <p:cNvSpPr/>
          <p:nvPr/>
        </p:nvSpPr>
        <p:spPr>
          <a:xfrm>
            <a:off x="9148572" y="5303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9587484" y="528523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durante la feria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9587484" y="5559552"/>
            <a:ext cx="2231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diez días, con equipo de respaldo preparado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21792" y="63459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5C5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www.inmol.com.bo   ·   +591 755 90031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INMOL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Panel Interactivo INMOL</dc:title>
  <dc:subject>PptxGenJS Presentation</dc:subject>
  <dc:creator>ProShop</dc:creator>
  <cp:lastModifiedBy>ProShop</cp:lastModifiedBy>
  <cp:revision>1</cp:revision>
  <dcterms:created xsi:type="dcterms:W3CDTF">2026-08-03T15:28:39Z</dcterms:created>
  <dcterms:modified xsi:type="dcterms:W3CDTF">2026-08-03T15:28:39Z</dcterms:modified>
</cp:coreProperties>
</file>